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ora Light" panose="020B0604020202020204" charset="0"/>
      <p:regular r:id="rId13"/>
    </p:embeddedFont>
    <p:embeddedFont>
      <p:font typeface="Sora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20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316559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OLA Ride Booking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3775174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100,000 bookings · 20 columns · SQL + Power BI insights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4267200"/>
            <a:ext cx="2216095" cy="274241"/>
          </a:xfrm>
          <a:prstGeom prst="roundRect">
            <a:avLst>
              <a:gd name="adj" fmla="val 22121"/>
            </a:avLst>
          </a:prstGeom>
          <a:solidFill>
            <a:srgbClr val="F9D2D6"/>
          </a:solidFill>
          <a:ln/>
        </p:spPr>
      </p:sp>
      <p:sp>
        <p:nvSpPr>
          <p:cNvPr id="6" name="Text 3"/>
          <p:cNvSpPr/>
          <p:nvPr/>
        </p:nvSpPr>
        <p:spPr>
          <a:xfrm>
            <a:off x="5312039" y="4321274"/>
            <a:ext cx="260918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ANALYTICS PROJECT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65AFD-7079-E607-B36B-09D215D4D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962" y="656174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4527"/>
            <a:ext cx="10927878" cy="482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Dataset at a Glance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299766"/>
            <a:ext cx="6977880" cy="395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912" y="1905595"/>
            <a:ext cx="3592125" cy="165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Booking details: Date, Time, Status, Customer ID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Ride details: Vehicle Type, Pickup &amp; Drop Location, Distance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Performance: TAT, Driver &amp; Customer Ratings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Cancellations: Customer &amp; Driver reasons</a:t>
            </a:r>
            <a:endParaRPr lang="en-US" sz="1150" dirty="0"/>
          </a:p>
          <a:p>
            <a:pPr marL="233680" indent="-233680" algn="l">
              <a:lnSpc>
                <a:spcPct val="121000"/>
              </a:lnSpc>
              <a:buSzPct val="100000"/>
              <a:buChar char="•"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Revenue: Booking Value, Incomplete Rides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973912" y="3695402"/>
            <a:ext cx="3592125" cy="925909"/>
          </a:xfrm>
          <a:prstGeom prst="roundRect">
            <a:avLst>
              <a:gd name="adj" fmla="val 6654"/>
            </a:avLst>
          </a:prstGeom>
          <a:solidFill>
            <a:srgbClr val="F9D2D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554" y="3875187"/>
            <a:ext cx="183352" cy="1466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0547" y="3839270"/>
            <a:ext cx="296884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Missing values in TAT, cancellation reason, incomplete ride reason, and rating columns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1908" y="5522020"/>
            <a:ext cx="5404310" cy="831354"/>
          </a:xfrm>
          <a:prstGeom prst="roundRect">
            <a:avLst>
              <a:gd name="adj" fmla="val 741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4900" y="5675015"/>
            <a:ext cx="5098327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100K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84900" y="5987653"/>
            <a:ext cx="5098327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Booking rows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55377" y="5522020"/>
            <a:ext cx="5404409" cy="831354"/>
          </a:xfrm>
          <a:prstGeom prst="roundRect">
            <a:avLst>
              <a:gd name="adj" fmla="val 7411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8369" y="5675015"/>
            <a:ext cx="5098426" cy="241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8369" y="5987653"/>
            <a:ext cx="5098426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Columns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EBE598-CED6-7BAE-210C-A77E50638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0389" y="658197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607741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Booking Performance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562622"/>
            <a:ext cx="3065187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10,499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31908" y="3383955"/>
            <a:ext cx="306518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Cancellations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2714" y="2562622"/>
            <a:ext cx="3065187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6,542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3922714" y="3383955"/>
            <a:ext cx="306518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Driver Cancellations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77311" y="4132064"/>
            <a:ext cx="3065187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35M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2277311" y="4953397"/>
            <a:ext cx="306518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Successful Ride Value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Ride Distance by Vehicle Type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Autos average just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6.24 km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less than half of all other vehicle types, which cluster tightly around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15–16 km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FCC12-07D9-E30C-1E7C-C19423262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562" y="6552412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Cancellation Reasons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83543"/>
            <a:ext cx="10927878" cy="6119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436A5B-D1C2-5475-8836-416C6E5AC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591" y="656174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41040"/>
            <a:ext cx="6355993" cy="111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Driver Cancellation Reasons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1908" y="1892498"/>
            <a:ext cx="6355993" cy="987127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7521" y="2068116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Personal &amp; Car Issues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07521" y="2441674"/>
            <a:ext cx="6004767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8,540 · 25.48%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1908" y="3038277"/>
            <a:ext cx="6355993" cy="987127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7521" y="3213894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Related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7521" y="3587452"/>
            <a:ext cx="6004767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3,410 · 25.34%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1908" y="4184055"/>
            <a:ext cx="6355993" cy="987127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7521" y="4359672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Double-Booking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07521" y="4733230"/>
            <a:ext cx="6004767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3,830 · 25.32%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1908" y="5329833"/>
            <a:ext cx="6355993" cy="987127"/>
          </a:xfrm>
          <a:prstGeom prst="roundRect">
            <a:avLst>
              <a:gd name="adj" fmla="val 7202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7521" y="5505450"/>
            <a:ext cx="6004767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Over Passenger Limit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07521" y="5879009"/>
            <a:ext cx="6004767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3,050 · 19.82%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Ratings by Vehicle Type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Driver Rating Range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2457" y="2451398"/>
            <a:ext cx="5243679" cy="670520"/>
          </a:xfrm>
          <a:prstGeom prst="roundRect">
            <a:avLst>
              <a:gd name="adj" fmla="val 11309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28807" y="2457748"/>
            <a:ext cx="2615440" cy="657820"/>
          </a:xfrm>
          <a:custGeom>
            <a:avLst/>
            <a:gdLst/>
            <a:ahLst/>
            <a:cxnLst/>
            <a:rect l="l" t="t" r="r" b="b"/>
            <a:pathLst>
              <a:path w="2615440" h="657820">
                <a:moveTo>
                  <a:pt x="63192" y="0"/>
                </a:moveTo>
                <a:lnTo>
                  <a:pt x="2615440" y="0"/>
                </a:lnTo>
                <a:lnTo>
                  <a:pt x="2615440" y="657820"/>
                </a:lnTo>
                <a:lnTo>
                  <a:pt x="63192" y="657820"/>
                </a:lnTo>
                <a:arcTo wR="63192" hR="63193" stAng="5400000" swAng="5400000"/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7" name="Text 4"/>
          <p:cNvSpPr/>
          <p:nvPr/>
        </p:nvSpPr>
        <p:spPr>
          <a:xfrm>
            <a:off x="6509282" y="2638227"/>
            <a:ext cx="225449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Max: 5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944247" y="2457748"/>
            <a:ext cx="2615539" cy="657820"/>
          </a:xfrm>
          <a:custGeom>
            <a:avLst/>
            <a:gdLst/>
            <a:ahLst/>
            <a:cxnLst/>
            <a:rect l="l" t="t" r="r" b="b"/>
            <a:pathLst>
              <a:path w="2615539" h="657820">
                <a:moveTo>
                  <a:pt x="0" y="0"/>
                </a:moveTo>
                <a:lnTo>
                  <a:pt x="2552348" y="0"/>
                </a:lnTo>
                <a:arcTo wR="63192" hR="63193" stAng="16200000" swAng="5400000"/>
                <a:lnTo>
                  <a:pt x="2615539" y="594627"/>
                </a:lnTo>
                <a:arcTo wR="63192" hR="63193" stAng="0" swAng="5400000"/>
                <a:lnTo>
                  <a:pt x="0" y="657820"/>
                </a:lnTo>
                <a:lnTo>
                  <a:pt x="0" y="0"/>
                </a:lnTo>
                <a:close/>
              </a:path>
            </a:pathLst>
          </a:custGeom>
          <a:solidFill>
            <a:srgbClr val="F9D2D6"/>
          </a:solidFill>
          <a:ln/>
        </p:spPr>
      </p:sp>
      <p:sp>
        <p:nvSpPr>
          <p:cNvPr id="9" name="Shape 6"/>
          <p:cNvSpPr/>
          <p:nvPr/>
        </p:nvSpPr>
        <p:spPr>
          <a:xfrm>
            <a:off x="8944247" y="2457748"/>
            <a:ext cx="25399" cy="657820"/>
          </a:xfrm>
          <a:prstGeom prst="roundRect">
            <a:avLst>
              <a:gd name="adj" fmla="val 50001"/>
            </a:avLst>
          </a:prstGeom>
          <a:solidFill>
            <a:srgbClr val="DFB8BC"/>
          </a:solidFill>
          <a:ln/>
        </p:spPr>
      </p:sp>
      <p:sp>
        <p:nvSpPr>
          <p:cNvPr id="10" name="Text 7"/>
          <p:cNvSpPr/>
          <p:nvPr/>
        </p:nvSpPr>
        <p:spPr>
          <a:xfrm>
            <a:off x="9124722" y="2638227"/>
            <a:ext cx="225459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Min: 3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322457" y="3325019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vehicle types cluster tightly around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4.0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Prime Plus leads at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4.009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0E3067-A0AD-DCE4-B192-FCBD6D902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7431" y="6568711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UPI Payment Adoption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Digital Payments Lead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UPI is the dominant digital payment method, second only to Cash overall.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2457" y="3209727"/>
            <a:ext cx="2531602" cy="11780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9929" y="3415605"/>
            <a:ext cx="201825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Cash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29929" y="3892947"/>
            <a:ext cx="201825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~₹180K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4534" y="3209727"/>
            <a:ext cx="2531602" cy="11780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42005" y="3415605"/>
            <a:ext cx="201825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UPI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42005" y="3892947"/>
            <a:ext cx="201825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~₹140K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2457" y="4568230"/>
            <a:ext cx="2531602" cy="11780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29929" y="4774109"/>
            <a:ext cx="201825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Credit Card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29929" y="5251450"/>
            <a:ext cx="201825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~₹10K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4534" y="4568230"/>
            <a:ext cx="2531602" cy="11780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42005" y="4774109"/>
            <a:ext cx="201825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Debit Card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342005" y="5251450"/>
            <a:ext cx="201825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~₹2K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35E129-EF9D-36E9-457E-E03659761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1081" y="655241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3223"/>
            <a:ext cx="10927878" cy="50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Power BI Dashboard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851422"/>
            <a:ext cx="6973019" cy="3848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2941" y="1365647"/>
            <a:ext cx="358309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Overall Snapshot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82941" y="1760736"/>
            <a:ext cx="3583096" cy="920948"/>
          </a:xfrm>
          <a:prstGeom prst="roundRect">
            <a:avLst>
              <a:gd name="adj" fmla="val 694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41588" y="1919387"/>
            <a:ext cx="326580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103,024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141588" y="2298402"/>
            <a:ext cx="326580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Bookings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82941" y="2810173"/>
            <a:ext cx="3583096" cy="920948"/>
          </a:xfrm>
          <a:prstGeom prst="roundRect">
            <a:avLst>
              <a:gd name="adj" fmla="val 694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41588" y="2968823"/>
            <a:ext cx="326580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₹57M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41588" y="3347839"/>
            <a:ext cx="326580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Booking Value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82941" y="3859609"/>
            <a:ext cx="3583096" cy="920948"/>
          </a:xfrm>
          <a:prstGeom prst="roundRect">
            <a:avLst>
              <a:gd name="adj" fmla="val 694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1588" y="4018260"/>
            <a:ext cx="326580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62.09%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41588" y="4397276"/>
            <a:ext cx="326580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Success Rate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82941" y="4909046"/>
            <a:ext cx="3583096" cy="920948"/>
          </a:xfrm>
          <a:prstGeom prst="roundRect">
            <a:avLst>
              <a:gd name="adj" fmla="val 6947"/>
            </a:avLst>
          </a:prstGeom>
          <a:solidFill>
            <a:srgbClr val="F9D2D6"/>
          </a:solidFill>
          <a:ln w="6350">
            <a:solidFill>
              <a:srgbClr val="DFB8B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41588" y="5067697"/>
            <a:ext cx="3265803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28.08%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141588" y="5446713"/>
            <a:ext cx="3265803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Cancellation Rate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82941" y="5974556"/>
            <a:ext cx="419268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Peak booking volumes on </a:t>
            </a:r>
            <a:r>
              <a:rPr lang="en-US" sz="11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July 12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r>
              <a:rPr lang="en-US" sz="11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July 28</a:t>
            </a: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1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137377-0193-E1DE-40E1-48793831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8213" y="654635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1105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066032"/>
            <a:ext cx="451335" cy="45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743002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Reduce Cancellations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3148112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Address top driver &amp; customer cancellation reasons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2066032"/>
            <a:ext cx="451335" cy="451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740" y="2743002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Improve Ride Completion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49740" y="3148112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 incomplete-ride issues: breakdowns, customer demand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572" y="2066032"/>
            <a:ext cx="451335" cy="451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7572" y="2743002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Optimize Vehicles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7572" y="3148112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Focus on high-demand, high-rating vehicle types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087019"/>
            <a:ext cx="451335" cy="4513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908" y="476398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Experience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31908" y="5169098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ratings &amp; wait times to improve service quality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9740" y="4087019"/>
            <a:ext cx="451335" cy="4513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9740" y="476398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Optimize Revenue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49740" y="5169098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Target high-value rides, popular locations &amp; vehicle types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79924E-B724-3D72-44FE-DF0BAAE9AA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1081" y="6552413"/>
            <a:ext cx="1257409" cy="228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Sora SemiBold</vt:lpstr>
      <vt:lpstr>Sora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Kamalesh R</dc:creator>
  <cp:lastModifiedBy>Kamalesh R</cp:lastModifiedBy>
  <cp:revision>2</cp:revision>
  <dcterms:created xsi:type="dcterms:W3CDTF">2026-09-27T13:47:00Z</dcterms:created>
  <dcterms:modified xsi:type="dcterms:W3CDTF">2026-09-27T13:53:43Z</dcterms:modified>
</cp:coreProperties>
</file>